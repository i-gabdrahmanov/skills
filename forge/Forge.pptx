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1A038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9AD61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A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ПРОИЗВОДСТВЕННЫЙ КОНВЕЙЕР  ·  ОТ ИДЕИ ДО ГОТОВОГО РЕЗУЛЬТАТА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3776" y="603504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3FBF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Forge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66928" y="1572768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9DB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новой функции продукта поставлено на поток — с контролем качества на каждом этапе и решениями за человеком в ключевых точках.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732520" y="457200"/>
            <a:ext cx="2971800" cy="1481328"/>
          </a:xfrm>
          <a:prstGeom prst="roundRect">
            <a:avLst>
              <a:gd name="adj" fmla="val 6173"/>
            </a:avLst>
          </a:prstGeom>
          <a:solidFill>
            <a:srgbClr val="21A038"/>
          </a:solidFill>
          <a:ln/>
        </p:spPr>
      </p:sp>
      <p:sp>
        <p:nvSpPr>
          <p:cNvPr id="8" name="Text 6"/>
          <p:cNvSpPr/>
          <p:nvPr/>
        </p:nvSpPr>
        <p:spPr>
          <a:xfrm>
            <a:off x="8869680" y="5669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7F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РУТИНА ПО ФУНКЦИИ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823960" y="786384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2F7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дни → часы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886968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7F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в 4–5× меньше ручного труда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2249424"/>
            <a:ext cx="841248" cy="420624"/>
          </a:xfrm>
          <a:prstGeom prst="roundRect">
            <a:avLst>
              <a:gd name="adj" fmla="val 17391"/>
            </a:avLst>
          </a:prstGeom>
          <a:solidFill>
            <a:srgbClr val="141A16"/>
          </a:solidFill>
          <a:ln w="12700">
            <a:solidFill>
              <a:srgbClr val="2939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249424"/>
            <a:ext cx="8412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B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Идея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08176" y="2249424"/>
            <a:ext cx="38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A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792224" y="2249424"/>
            <a:ext cx="1417320" cy="420624"/>
          </a:xfrm>
          <a:prstGeom prst="roundRect">
            <a:avLst>
              <a:gd name="adj" fmla="val 17391"/>
            </a:avLst>
          </a:prstGeom>
          <a:solidFill>
            <a:srgbClr val="141A16"/>
          </a:solidFill>
          <a:ln w="12700">
            <a:solidFill>
              <a:srgbClr val="2939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92224" y="2249424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B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Требования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9544" y="2249424"/>
            <a:ext cx="38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A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593592" y="2249424"/>
            <a:ext cx="841248" cy="420624"/>
          </a:xfrm>
          <a:prstGeom prst="roundRect">
            <a:avLst>
              <a:gd name="adj" fmla="val 17391"/>
            </a:avLst>
          </a:prstGeom>
          <a:solidFill>
            <a:srgbClr val="141A16"/>
          </a:solidFill>
          <a:ln w="12700">
            <a:solidFill>
              <a:srgbClr val="2939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93592" y="2249424"/>
            <a:ext cx="8412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B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34840" y="2249424"/>
            <a:ext cx="38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A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18888" y="2249424"/>
            <a:ext cx="1609344" cy="420624"/>
          </a:xfrm>
          <a:prstGeom prst="roundRect">
            <a:avLst>
              <a:gd name="adj" fmla="val 17391"/>
            </a:avLst>
          </a:prstGeom>
          <a:solidFill>
            <a:srgbClr val="141A16"/>
          </a:solidFill>
          <a:ln w="12700">
            <a:solidFill>
              <a:srgbClr val="29392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2249424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B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Изготовление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28232" y="2249424"/>
            <a:ext cx="38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A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812280" y="2249424"/>
            <a:ext cx="1129284" cy="420624"/>
          </a:xfrm>
          <a:prstGeom prst="roundRect">
            <a:avLst>
              <a:gd name="adj" fmla="val 17391"/>
            </a:avLst>
          </a:prstGeom>
          <a:solidFill>
            <a:srgbClr val="141A16"/>
          </a:solidFill>
          <a:ln w="12700">
            <a:solidFill>
              <a:srgbClr val="29392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2249424"/>
            <a:ext cx="11292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B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Приёмка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2852928"/>
            <a:ext cx="3566160" cy="1773936"/>
          </a:xfrm>
          <a:prstGeom prst="roundRect">
            <a:avLst>
              <a:gd name="adj" fmla="val 4639"/>
            </a:avLst>
          </a:prstGeom>
          <a:solidFill>
            <a:srgbClr val="141A16"/>
          </a:solidFill>
          <a:ln w="12700">
            <a:solidFill>
              <a:srgbClr val="29392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2999232"/>
            <a:ext cx="64008" cy="1481328"/>
          </a:xfrm>
          <a:prstGeom prst="rect">
            <a:avLst/>
          </a:prstGeom>
          <a:solidFill>
            <a:srgbClr val="21A038"/>
          </a:solidFill>
          <a:ln/>
        </p:spPr>
      </p:sp>
      <p:sp>
        <p:nvSpPr>
          <p:cNvPr id="27" name="Shape 25"/>
          <p:cNvSpPr/>
          <p:nvPr/>
        </p:nvSpPr>
        <p:spPr>
          <a:xfrm>
            <a:off x="795528" y="3072384"/>
            <a:ext cx="493776" cy="493776"/>
          </a:xfrm>
          <a:prstGeom prst="ellipse">
            <a:avLst/>
          </a:prstGeom>
          <a:solidFill>
            <a:srgbClr val="21A038"/>
          </a:solidFill>
          <a:ln/>
        </p:spPr>
      </p:sp>
      <p:sp>
        <p:nvSpPr>
          <p:cNvPr id="28" name="Text 26"/>
          <p:cNvSpPr/>
          <p:nvPr/>
        </p:nvSpPr>
        <p:spPr>
          <a:xfrm>
            <a:off x="795528" y="3072384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7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417320" y="3035808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F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Качество встроено в линию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22960" y="3785616"/>
            <a:ext cx="30632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DC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на каждом этапе, как ОТК: брак не уходит дальше. Срезать угол нельзя.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4361688" y="2852928"/>
            <a:ext cx="3566160" cy="1773936"/>
          </a:xfrm>
          <a:prstGeom prst="roundRect">
            <a:avLst>
              <a:gd name="adj" fmla="val 4639"/>
            </a:avLst>
          </a:prstGeom>
          <a:solidFill>
            <a:srgbClr val="141A16"/>
          </a:solidFill>
          <a:ln w="12700">
            <a:solidFill>
              <a:srgbClr val="29392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61688" y="2999232"/>
            <a:ext cx="64008" cy="1481328"/>
          </a:xfrm>
          <a:prstGeom prst="rect">
            <a:avLst/>
          </a:prstGeom>
          <a:solidFill>
            <a:srgbClr val="3FBF59"/>
          </a:solidFill>
          <a:ln/>
        </p:spPr>
      </p:sp>
      <p:sp>
        <p:nvSpPr>
          <p:cNvPr id="33" name="Shape 31"/>
          <p:cNvSpPr/>
          <p:nvPr/>
        </p:nvSpPr>
        <p:spPr>
          <a:xfrm>
            <a:off x="4608576" y="3072384"/>
            <a:ext cx="493776" cy="493776"/>
          </a:xfrm>
          <a:prstGeom prst="ellipse">
            <a:avLst/>
          </a:prstGeom>
          <a:solidFill>
            <a:srgbClr val="3FBF59"/>
          </a:solidFill>
          <a:ln/>
        </p:spPr>
      </p:sp>
      <p:sp>
        <p:nvSpPr>
          <p:cNvPr id="34" name="Text 32"/>
          <p:cNvSpPr/>
          <p:nvPr/>
        </p:nvSpPr>
        <p:spPr>
          <a:xfrm>
            <a:off x="4608576" y="3072384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F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230368" y="3035808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F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Решения — за человеком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636008" y="3785616"/>
            <a:ext cx="30632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DC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ключевых точках конвейер ждёт «да» руководителя. Между ними работает сам.</a:t>
            </a:r>
            <a:endParaRPr lang="en-US" sz="1450" dirty="0"/>
          </a:p>
        </p:txBody>
      </p:sp>
      <p:sp>
        <p:nvSpPr>
          <p:cNvPr id="37" name="Shape 35"/>
          <p:cNvSpPr/>
          <p:nvPr/>
        </p:nvSpPr>
        <p:spPr>
          <a:xfrm>
            <a:off x="8174736" y="2852928"/>
            <a:ext cx="3566160" cy="1773936"/>
          </a:xfrm>
          <a:prstGeom prst="roundRect">
            <a:avLst>
              <a:gd name="adj" fmla="val 4639"/>
            </a:avLst>
          </a:prstGeom>
          <a:solidFill>
            <a:srgbClr val="141A16"/>
          </a:solidFill>
          <a:ln w="12700">
            <a:solidFill>
              <a:srgbClr val="29392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74736" y="2999232"/>
            <a:ext cx="64008" cy="1481328"/>
          </a:xfrm>
          <a:prstGeom prst="rect">
            <a:avLst/>
          </a:prstGeom>
          <a:solidFill>
            <a:srgbClr val="9AD61E"/>
          </a:solidFill>
          <a:ln/>
        </p:spPr>
      </p:sp>
      <p:sp>
        <p:nvSpPr>
          <p:cNvPr id="39" name="Shape 37"/>
          <p:cNvSpPr/>
          <p:nvPr/>
        </p:nvSpPr>
        <p:spPr>
          <a:xfrm>
            <a:off x="8421624" y="3072384"/>
            <a:ext cx="493776" cy="493776"/>
          </a:xfrm>
          <a:prstGeom prst="ellipse">
            <a:avLst/>
          </a:prstGeom>
          <a:solidFill>
            <a:srgbClr val="9AD61E"/>
          </a:solidFill>
          <a:ln/>
        </p:spPr>
      </p:sp>
      <p:sp>
        <p:nvSpPr>
          <p:cNvPr id="40" name="Text 38"/>
          <p:cNvSpPr/>
          <p:nvPr/>
        </p:nvSpPr>
        <p:spPr>
          <a:xfrm>
            <a:off x="8421624" y="3072384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F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9043416" y="3035808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F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Предсказуемый результат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449056" y="3785616"/>
            <a:ext cx="30632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DC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прошёл приёмку — переделка, до 3 раз. Сбой не теряет работу.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548640" y="48280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A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ЭКОНОМИТСЯ ВРЕМЯ КОМАНДЫ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5138928"/>
            <a:ext cx="2706624" cy="786384"/>
          </a:xfrm>
          <a:prstGeom prst="roundRect">
            <a:avLst>
              <a:gd name="adj" fmla="val 8140"/>
            </a:avLst>
          </a:prstGeom>
          <a:solidFill>
            <a:srgbClr val="141A16"/>
          </a:solidFill>
          <a:ln w="12700">
            <a:solidFill>
              <a:srgbClr val="29392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5248656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 требований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31520" y="5522976"/>
            <a:ext cx="23408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дня  </a:t>
            </a:r>
            <a:pPr indent="0" marL="0">
              <a:buNone/>
            </a:pPr>
            <a:r>
              <a:rPr lang="en-US" sz="1500" b="1" dirty="0">
                <a:solidFill>
                  <a:srgbClr val="21A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500" b="1" dirty="0">
                <a:solidFill>
                  <a:srgbClr val="3FB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часа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401568" y="5138928"/>
            <a:ext cx="2706624" cy="786384"/>
          </a:xfrm>
          <a:prstGeom prst="roundRect">
            <a:avLst>
              <a:gd name="adj" fmla="val 8140"/>
            </a:avLst>
          </a:prstGeom>
          <a:solidFill>
            <a:srgbClr val="141A16"/>
          </a:solidFill>
          <a:ln w="12700">
            <a:solidFill>
              <a:srgbClr val="29392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84448" y="5248656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Планирование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584448" y="5522976"/>
            <a:ext cx="23408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день  </a:t>
            </a:r>
            <a:pPr indent="0" marL="0">
              <a:buNone/>
            </a:pPr>
            <a:r>
              <a:rPr lang="en-US" sz="1500" b="1" dirty="0">
                <a:solidFill>
                  <a:srgbClr val="21A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500" b="1" dirty="0">
                <a:solidFill>
                  <a:srgbClr val="3FB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час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6254496" y="5138928"/>
            <a:ext cx="2706624" cy="786384"/>
          </a:xfrm>
          <a:prstGeom prst="roundRect">
            <a:avLst>
              <a:gd name="adj" fmla="val 8140"/>
            </a:avLst>
          </a:prstGeom>
          <a:solidFill>
            <a:srgbClr val="141A16"/>
          </a:solidFill>
          <a:ln w="12700">
            <a:solidFill>
              <a:srgbClr val="29392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37376" y="5248656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Изучение продукта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437376" y="5522976"/>
            <a:ext cx="23408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дни  </a:t>
            </a:r>
            <a:pPr indent="0" marL="0">
              <a:buNone/>
            </a:pPr>
            <a:r>
              <a:rPr lang="en-US" sz="1500" b="1" dirty="0">
                <a:solidFill>
                  <a:srgbClr val="21A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500" b="1" dirty="0">
                <a:solidFill>
                  <a:srgbClr val="3FB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минуты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9107424" y="5138928"/>
            <a:ext cx="2706624" cy="786384"/>
          </a:xfrm>
          <a:prstGeom prst="roundRect">
            <a:avLst>
              <a:gd name="adj" fmla="val 8140"/>
            </a:avLst>
          </a:prstGeom>
          <a:solidFill>
            <a:srgbClr val="141A16"/>
          </a:solidFill>
          <a:ln w="12700">
            <a:solidFill>
              <a:srgbClr val="29392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290304" y="5248656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Документация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290304" y="5522976"/>
            <a:ext cx="23408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дня  </a:t>
            </a:r>
            <a:pPr indent="0" marL="0">
              <a:buNone/>
            </a:pPr>
            <a:r>
              <a:rPr lang="en-US" sz="1500" b="1" dirty="0">
                <a:solidFill>
                  <a:srgbClr val="21A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500" b="1" dirty="0">
                <a:solidFill>
                  <a:srgbClr val="3FB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минуты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548640" y="6217920"/>
            <a:ext cx="11155680" cy="0"/>
          </a:xfrm>
          <a:prstGeom prst="line">
            <a:avLst/>
          </a:prstGeom>
          <a:noFill/>
          <a:ln w="12700">
            <a:solidFill>
              <a:srgbClr val="29392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3FBF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Рутину — конвейеру; решения и приёмку — людям.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7315200" y="63093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DB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процесс  ·  Контроль на каждом этапе  ·  Решения за человеком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2026-06-22T08:50:25Z</dcterms:created>
  <dcterms:modified xsi:type="dcterms:W3CDTF">2026-06-22T08:50:25Z</dcterms:modified>
</cp:coreProperties>
</file>